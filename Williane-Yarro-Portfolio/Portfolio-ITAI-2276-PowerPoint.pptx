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0" r:id="rId3"/>
    <p:sldId id="259" r:id="rId4"/>
    <p:sldId id="258" r:id="rId5"/>
    <p:sldId id="262" r:id="rId6"/>
    <p:sldId id="261"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6" d="100"/>
          <a:sy n="106" d="100"/>
        </p:scale>
        <p:origin x="-221" y="-2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9AE194-2F9B-43E7-9744-13F6B8F9173C}" type="datetimeFigureOut">
              <a:rPr lang="en-US" smtClean="0"/>
              <a:t>12/7/2025</a:t>
            </a:fld>
            <a:endParaRPr lang="en-US"/>
          </a:p>
        </p:txBody>
      </p:sp>
      <p:sp>
        <p:nvSpPr>
          <p:cNvPr id="5" name="Footer Placeholder 4"/>
          <p:cNvSpPr>
            <a:spLocks noGrp="1"/>
          </p:cNvSpPr>
          <p:nvPr>
            <p:ph type="ftr" sz="quarter" idx="11"/>
          </p:nvPr>
        </p:nvSpPr>
        <p:spPr>
          <a:xfrm>
            <a:off x="1451579" y="329307"/>
            <a:ext cx="5626774" cy="309201"/>
          </a:xfrm>
        </p:spPr>
        <p:txBody>
          <a:bodyPr/>
          <a:lstStyle/>
          <a:p>
            <a:endParaRPr lang="en-US"/>
          </a:p>
        </p:txBody>
      </p:sp>
      <p:sp>
        <p:nvSpPr>
          <p:cNvPr id="6" name="Slide Number Placeholder 5"/>
          <p:cNvSpPr>
            <a:spLocks noGrp="1"/>
          </p:cNvSpPr>
          <p:nvPr>
            <p:ph type="sldNum" sz="quarter" idx="12"/>
          </p:nvPr>
        </p:nvSpPr>
        <p:spPr>
          <a:xfrm>
            <a:off x="476834" y="798973"/>
            <a:ext cx="811019" cy="503578"/>
          </a:xfrm>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2701344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9AE194-2F9B-43E7-9744-13F6B8F9173C}"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1908120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9AE194-2F9B-43E7-9744-13F6B8F9173C}"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2590217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9AE194-2F9B-43E7-9744-13F6B8F9173C}"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2456867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9AE194-2F9B-43E7-9744-13F6B8F9173C}"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79142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9AE194-2F9B-43E7-9744-13F6B8F9173C}"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342113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9AE194-2F9B-43E7-9744-13F6B8F9173C}"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534046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9AE194-2F9B-43E7-9744-13F6B8F9173C}"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1106619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99AE194-2F9B-43E7-9744-13F6B8F9173C}" type="datetimeFigureOut">
              <a:rPr lang="en-US" smtClean="0"/>
              <a:t>12/7/2025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1943993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9AE194-2F9B-43E7-9744-13F6B8F9173C}"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1415180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9AE194-2F9B-43E7-9744-13F6B8F9173C}"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CB33D-4C28-4332-B8DA-50C448DD873D}" type="slidenum">
              <a:rPr lang="en-US" smtClean="0"/>
              <a:t>‹#›</a:t>
            </a:fld>
            <a:endParaRPr lang="en-US"/>
          </a:p>
        </p:txBody>
      </p:sp>
    </p:spTree>
    <p:extLst>
      <p:ext uri="{BB962C8B-B14F-4D97-AF65-F5344CB8AC3E}">
        <p14:creationId xmlns:p14="http://schemas.microsoft.com/office/powerpoint/2010/main" val="863145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99AE194-2F9B-43E7-9744-13F6B8F9173C}" type="datetimeFigureOut">
              <a:rPr lang="en-US" smtClean="0"/>
              <a:t>12/7/2025</a:t>
            </a:fld>
            <a:endParaRPr lang="en-US"/>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D1CB33D-4C28-4332-B8DA-50C448DD873D}" type="slidenum">
              <a:rPr lang="en-US" smtClean="0"/>
              <a:t>‹#›</a:t>
            </a:fld>
            <a:endParaRPr lang="en-US"/>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79910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F0D1E-54F7-7F36-5947-EAE24A782F90}"/>
              </a:ext>
            </a:extLst>
          </p:cNvPr>
          <p:cNvSpPr>
            <a:spLocks noGrp="1"/>
          </p:cNvSpPr>
          <p:nvPr>
            <p:ph type="ctrTitle"/>
          </p:nvPr>
        </p:nvSpPr>
        <p:spPr>
          <a:xfrm>
            <a:off x="1774423" y="802298"/>
            <a:ext cx="8637073" cy="3308148"/>
          </a:xfrm>
        </p:spPr>
        <p:txBody>
          <a:bodyPr/>
          <a:lstStyle/>
          <a:p>
            <a:endParaRPr lang="en-US" dirty="0"/>
          </a:p>
        </p:txBody>
      </p:sp>
      <p:sp>
        <p:nvSpPr>
          <p:cNvPr id="3" name="Subtitle 2">
            <a:extLst>
              <a:ext uri="{FF2B5EF4-FFF2-40B4-BE49-F238E27FC236}">
                <a16:creationId xmlns:a16="http://schemas.microsoft.com/office/drawing/2014/main" id="{33CAB046-411D-824B-0AC7-6A8C8F411959}"/>
              </a:ext>
            </a:extLst>
          </p:cNvPr>
          <p:cNvSpPr>
            <a:spLocks noGrp="1"/>
          </p:cNvSpPr>
          <p:nvPr>
            <p:ph type="subTitle" idx="1"/>
          </p:nvPr>
        </p:nvSpPr>
        <p:spPr/>
        <p:txBody>
          <a:bodyPr/>
          <a:lstStyle/>
          <a:p>
            <a:endParaRPr lang="en-US" dirty="0"/>
          </a:p>
        </p:txBody>
      </p:sp>
      <p:sp>
        <p:nvSpPr>
          <p:cNvPr id="5" name="TextBox 4">
            <a:extLst>
              <a:ext uri="{FF2B5EF4-FFF2-40B4-BE49-F238E27FC236}">
                <a16:creationId xmlns:a16="http://schemas.microsoft.com/office/drawing/2014/main" id="{4E93DFBF-F404-D2A2-9C88-885B7713EFFA}"/>
              </a:ext>
            </a:extLst>
          </p:cNvPr>
          <p:cNvSpPr txBox="1"/>
          <p:nvPr/>
        </p:nvSpPr>
        <p:spPr>
          <a:xfrm>
            <a:off x="2168434" y="943585"/>
            <a:ext cx="6955971" cy="2308324"/>
          </a:xfrm>
          <a:prstGeom prst="rect">
            <a:avLst/>
          </a:prstGeom>
          <a:noFill/>
        </p:spPr>
        <p:txBody>
          <a:bodyPr wrap="square">
            <a:spAutoFit/>
          </a:bodyPr>
          <a:lstStyle/>
          <a:p>
            <a:r>
              <a:rPr lang="en-US" b="1" dirty="0"/>
              <a:t>Introduction</a:t>
            </a:r>
          </a:p>
          <a:p>
            <a:r>
              <a:rPr lang="en-US" dirty="0"/>
              <a:t>This presentation provides a concise overview of the core modules covered in ITAI 2276. Throughout the course, I explored foundational and advanced deep learning concepts, gaining practical skills in neural networks, computer vision, NLP, generative AI, and intelligent agent systems. This summary highlights the key learning objectives and technical growth achieved across all modules.</a:t>
            </a:r>
          </a:p>
        </p:txBody>
      </p:sp>
    </p:spTree>
    <p:extLst>
      <p:ext uri="{BB962C8B-B14F-4D97-AF65-F5344CB8AC3E}">
        <p14:creationId xmlns:p14="http://schemas.microsoft.com/office/powerpoint/2010/main" val="1338225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A8352-1CBF-F429-981F-86F8003C307A}"/>
              </a:ext>
            </a:extLst>
          </p:cNvPr>
          <p:cNvSpPr>
            <a:spLocks noGrp="1"/>
          </p:cNvSpPr>
          <p:nvPr>
            <p:ph type="title"/>
          </p:nvPr>
        </p:nvSpPr>
        <p:spPr/>
        <p:txBody>
          <a:bodyPr/>
          <a:lstStyle/>
          <a:p>
            <a:r>
              <a:rPr lang="en-US" b="1" dirty="0"/>
              <a:t>Module Overview (ITAI 2276)</a:t>
            </a:r>
            <a:br>
              <a:rPr lang="en-US" b="1" dirty="0"/>
            </a:br>
            <a:endParaRPr lang="en-US" dirty="0"/>
          </a:p>
        </p:txBody>
      </p:sp>
      <p:sp>
        <p:nvSpPr>
          <p:cNvPr id="3" name="Content Placeholder 2">
            <a:extLst>
              <a:ext uri="{FF2B5EF4-FFF2-40B4-BE49-F238E27FC236}">
                <a16:creationId xmlns:a16="http://schemas.microsoft.com/office/drawing/2014/main" id="{DD0619C6-BE07-E411-CC38-969CB2014282}"/>
              </a:ext>
            </a:extLst>
          </p:cNvPr>
          <p:cNvSpPr>
            <a:spLocks noGrp="1"/>
          </p:cNvSpPr>
          <p:nvPr>
            <p:ph idx="1"/>
          </p:nvPr>
        </p:nvSpPr>
        <p:spPr/>
        <p:txBody>
          <a:bodyPr>
            <a:normAutofit fontScale="92500" lnSpcReduction="20000"/>
          </a:bodyPr>
          <a:lstStyle/>
          <a:p>
            <a:r>
              <a:rPr lang="en-US" dirty="0"/>
              <a:t>This course guided me through a complete progression of deep learning concepts, beginning with foundational neural network theory and advancing toward modern AI systems. I learned how to work effectively in cloud environments like </a:t>
            </a:r>
            <a:r>
              <a:rPr lang="en-US" dirty="0" err="1"/>
              <a:t>Colab</a:t>
            </a:r>
            <a:r>
              <a:rPr lang="en-US" dirty="0"/>
              <a:t>, configure deep learning tools, and understand core architectures such as CNNs, RNNs, and Transformers. The course also introduced powerful generative models including VAEs, GANs, and diffusion models, helping me understand how synthetic images and data are created. Finally, I explored reinforcement learning, reasoning models, and retrieval-augmented generation, gaining insight into how advanced AI agents operate in real-world applications. Together, these modules provided a strong technical foundation for building and analyzing intelligent AI systems.</a:t>
            </a:r>
          </a:p>
          <a:p>
            <a:endParaRPr lang="en-US" dirty="0"/>
          </a:p>
        </p:txBody>
      </p:sp>
    </p:spTree>
    <p:extLst>
      <p:ext uri="{BB962C8B-B14F-4D97-AF65-F5344CB8AC3E}">
        <p14:creationId xmlns:p14="http://schemas.microsoft.com/office/powerpoint/2010/main" val="27559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1B0BB-8C93-A079-B424-C0B9DEA70A14}"/>
              </a:ext>
            </a:extLst>
          </p:cNvPr>
          <p:cNvSpPr>
            <a:spLocks noGrp="1"/>
          </p:cNvSpPr>
          <p:nvPr>
            <p:ph type="title"/>
          </p:nvPr>
        </p:nvSpPr>
        <p:spPr/>
        <p:txBody>
          <a:bodyPr/>
          <a:lstStyle/>
          <a:p>
            <a:r>
              <a:rPr lang="en-US" b="1" dirty="0"/>
              <a:t>Machine Learning Overview</a:t>
            </a:r>
            <a:br>
              <a:rPr lang="en-US" b="1" dirty="0"/>
            </a:br>
            <a:endParaRPr lang="en-US" dirty="0"/>
          </a:p>
        </p:txBody>
      </p:sp>
      <p:sp>
        <p:nvSpPr>
          <p:cNvPr id="3" name="Content Placeholder 2">
            <a:extLst>
              <a:ext uri="{FF2B5EF4-FFF2-40B4-BE49-F238E27FC236}">
                <a16:creationId xmlns:a16="http://schemas.microsoft.com/office/drawing/2014/main" id="{0D5E74BE-7DF8-CC95-FB34-A7651230C4C4}"/>
              </a:ext>
            </a:extLst>
          </p:cNvPr>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Machine Learning (ML) is a branch of artificial intelligence that enables computers to learn patterns from data and make predictions or decisions without being explicitly programmed. Instead of following fixed rules, ML models improve their performance by analyzing examples, identifying relationships, and adjusting themselves through training. Machine learning powers many modern applications, including image recognition, language processing, recommendations, fraud detection, and autonomous systems. By understanding ML techniques such as supervised learning, unsupervised learning, and reinforcement learning, we can build systems that adapt, predict, and solve complex real-world problems more effectively.</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498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CB49E-2191-042B-F5D3-0FBAD9220D66}"/>
              </a:ext>
            </a:extLst>
          </p:cNvPr>
          <p:cNvSpPr>
            <a:spLocks noGrp="1"/>
          </p:cNvSpPr>
          <p:nvPr>
            <p:ph type="title"/>
          </p:nvPr>
        </p:nvSpPr>
        <p:spPr/>
        <p:txBody>
          <a:bodyPr/>
          <a:lstStyle/>
          <a:p>
            <a:r>
              <a:rPr lang="en-US" b="1" dirty="0"/>
              <a:t>Neural Networks Overview</a:t>
            </a:r>
            <a:br>
              <a:rPr lang="en-US" b="1" dirty="0"/>
            </a:br>
            <a:endParaRPr lang="en-US" dirty="0"/>
          </a:p>
        </p:txBody>
      </p:sp>
      <p:sp>
        <p:nvSpPr>
          <p:cNvPr id="3" name="Content Placeholder 2">
            <a:extLst>
              <a:ext uri="{FF2B5EF4-FFF2-40B4-BE49-F238E27FC236}">
                <a16:creationId xmlns:a16="http://schemas.microsoft.com/office/drawing/2014/main" id="{234F100B-569B-E1A7-2FF9-27A672E9AB6B}"/>
              </a:ext>
            </a:extLst>
          </p:cNvPr>
          <p:cNvSpPr>
            <a:spLocks noGrp="1"/>
          </p:cNvSpPr>
          <p:nvPr>
            <p:ph idx="1"/>
          </p:nvPr>
        </p:nvSpPr>
        <p:spPr/>
        <p:txBody>
          <a:bodyPr/>
          <a:lstStyle/>
          <a:p>
            <a:endParaRPr lang="en-US" dirty="0"/>
          </a:p>
        </p:txBody>
      </p:sp>
      <p:sp>
        <p:nvSpPr>
          <p:cNvPr id="5" name="TextBox 4">
            <a:extLst>
              <a:ext uri="{FF2B5EF4-FFF2-40B4-BE49-F238E27FC236}">
                <a16:creationId xmlns:a16="http://schemas.microsoft.com/office/drawing/2014/main" id="{DE7214C2-E201-EE9E-CAC3-F191D6C7CABD}"/>
              </a:ext>
            </a:extLst>
          </p:cNvPr>
          <p:cNvSpPr txBox="1"/>
          <p:nvPr/>
        </p:nvSpPr>
        <p:spPr>
          <a:xfrm>
            <a:off x="1508760" y="2161078"/>
            <a:ext cx="9136380" cy="1569660"/>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Neural networks are computational models inspired by the structure of the human brain. They consist of interconnected layers of nodes (neurons) that process information by applying weights and activation functions. Through training, neural networks learn to map inputs to outputs by adjusting these weights to minimize error. This allows them to model complex relationships that traditional algorithms struggle with. Neural networks are the foundation of deep learning and power many AI applications, including image recognition, language processing, and predictive analytics.</a:t>
            </a:r>
          </a:p>
        </p:txBody>
      </p:sp>
    </p:spTree>
    <p:extLst>
      <p:ext uri="{BB962C8B-B14F-4D97-AF65-F5344CB8AC3E}">
        <p14:creationId xmlns:p14="http://schemas.microsoft.com/office/powerpoint/2010/main" val="3616672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CB49E-2191-042B-F5D3-0FBAD9220D66}"/>
              </a:ext>
            </a:extLst>
          </p:cNvPr>
          <p:cNvSpPr>
            <a:spLocks noGrp="1"/>
          </p:cNvSpPr>
          <p:nvPr>
            <p:ph type="title"/>
          </p:nvPr>
        </p:nvSpPr>
        <p:spPr/>
        <p:txBody>
          <a:bodyPr/>
          <a:lstStyle/>
          <a:p>
            <a:r>
              <a:rPr lang="en-US" dirty="0"/>
              <a:t>Convolutional Neural Networks (CNNs)</a:t>
            </a:r>
          </a:p>
        </p:txBody>
      </p:sp>
      <p:sp>
        <p:nvSpPr>
          <p:cNvPr id="3" name="Content Placeholder 2">
            <a:extLst>
              <a:ext uri="{FF2B5EF4-FFF2-40B4-BE49-F238E27FC236}">
                <a16:creationId xmlns:a16="http://schemas.microsoft.com/office/drawing/2014/main" id="{234F100B-569B-E1A7-2FF9-27A672E9AB6B}"/>
              </a:ext>
            </a:extLst>
          </p:cNvPr>
          <p:cNvSpPr>
            <a:spLocks noGrp="1"/>
          </p:cNvSpPr>
          <p:nvPr>
            <p:ph idx="1"/>
          </p:nvPr>
        </p:nvSpPr>
        <p:spPr/>
        <p:txBody>
          <a:bodyPr/>
          <a:lstStyle/>
          <a:p>
            <a:r>
              <a:rPr lang="en-US" dirty="0"/>
              <a:t>Convolutional Neural Networks (CNNs) are a specialized type of neural network designed to process grid-like data such as images. Using convolutional layers, pooling operations, and learned filters, CNNs automatically detect patterns like edges, textures, and shapes. This makes them exceptionally effective for computer vision tasks such as image classification, object detection, facial recognition, and medical imaging. CNNs reduce the need for manual feature engineering and have become a foundational architecture in deep learning for visual data.</a:t>
            </a:r>
          </a:p>
        </p:txBody>
      </p:sp>
    </p:spTree>
    <p:extLst>
      <p:ext uri="{BB962C8B-B14F-4D97-AF65-F5344CB8AC3E}">
        <p14:creationId xmlns:p14="http://schemas.microsoft.com/office/powerpoint/2010/main" val="4189891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CB49E-2191-042B-F5D3-0FBAD9220D66}"/>
              </a:ext>
            </a:extLst>
          </p:cNvPr>
          <p:cNvSpPr>
            <a:spLocks noGrp="1"/>
          </p:cNvSpPr>
          <p:nvPr>
            <p:ph type="title"/>
          </p:nvPr>
        </p:nvSpPr>
        <p:spPr>
          <a:xfrm>
            <a:off x="1451579" y="804519"/>
            <a:ext cx="9291215" cy="1062441"/>
          </a:xfrm>
        </p:spPr>
        <p:txBody>
          <a:bodyPr/>
          <a:lstStyle/>
          <a:p>
            <a:r>
              <a:rPr lang="en-US" dirty="0"/>
              <a:t>Recurrent Neural Networks (RNN</a:t>
            </a:r>
          </a:p>
        </p:txBody>
      </p:sp>
      <p:sp>
        <p:nvSpPr>
          <p:cNvPr id="3" name="Content Placeholder 2">
            <a:extLst>
              <a:ext uri="{FF2B5EF4-FFF2-40B4-BE49-F238E27FC236}">
                <a16:creationId xmlns:a16="http://schemas.microsoft.com/office/drawing/2014/main" id="{234F100B-569B-E1A7-2FF9-27A672E9AB6B}"/>
              </a:ext>
            </a:extLst>
          </p:cNvPr>
          <p:cNvSpPr>
            <a:spLocks noGrp="1"/>
          </p:cNvSpPr>
          <p:nvPr>
            <p:ph idx="1"/>
          </p:nvPr>
        </p:nvSpPr>
        <p:spPr>
          <a:xfrm>
            <a:off x="1451579" y="1681566"/>
            <a:ext cx="9291215" cy="3309475"/>
          </a:xfrm>
        </p:spPr>
        <p:txBody>
          <a:bodyPr/>
          <a:lstStyle/>
          <a:p>
            <a:endParaRPr lang="en-US" dirty="0"/>
          </a:p>
        </p:txBody>
      </p:sp>
      <p:sp>
        <p:nvSpPr>
          <p:cNvPr id="5" name="TextBox 4">
            <a:extLst>
              <a:ext uri="{FF2B5EF4-FFF2-40B4-BE49-F238E27FC236}">
                <a16:creationId xmlns:a16="http://schemas.microsoft.com/office/drawing/2014/main" id="{8D4D3747-A06B-59B8-360A-E386B5B4A450}"/>
              </a:ext>
            </a:extLst>
          </p:cNvPr>
          <p:cNvSpPr txBox="1"/>
          <p:nvPr/>
        </p:nvSpPr>
        <p:spPr>
          <a:xfrm>
            <a:off x="1580828" y="1866960"/>
            <a:ext cx="7568888" cy="2585323"/>
          </a:xfrm>
          <a:prstGeom prst="rect">
            <a:avLst/>
          </a:prstGeom>
          <a:noFill/>
        </p:spPr>
        <p:txBody>
          <a:bodyPr wrap="square">
            <a:spAutoFit/>
          </a:bodyPr>
          <a:lstStyle/>
          <a:p>
            <a:r>
              <a:rPr lang="en-US" dirty="0"/>
              <a:t>Recurrent Neural Networks (RNNs) are deep learning models designed to handle sequential data such as text, speech, or time-series signals. Unlike standard neural networks, RNNs have a built-in memory mechanism that allows them to retain information from previous steps in a sequence. This makes them effective for tasks like language modeling, sentiment analysis, speech recognition, and forecasting. Variants such as LSTMs and GRUs were developed to solve issues like vanishing gradients, enabling RNNs to learn long-term dependencies more accurately.</a:t>
            </a:r>
          </a:p>
        </p:txBody>
      </p:sp>
    </p:spTree>
    <p:extLst>
      <p:ext uri="{BB962C8B-B14F-4D97-AF65-F5344CB8AC3E}">
        <p14:creationId xmlns:p14="http://schemas.microsoft.com/office/powerpoint/2010/main" val="2935546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18F4D-7EE4-89F4-457E-DF82BD5B6121}"/>
              </a:ext>
            </a:extLst>
          </p:cNvPr>
          <p:cNvSpPr>
            <a:spLocks noGrp="1"/>
          </p:cNvSpPr>
          <p:nvPr>
            <p:ph type="title"/>
          </p:nvPr>
        </p:nvSpPr>
        <p:spPr/>
        <p:txBody>
          <a:bodyPr/>
          <a:lstStyle/>
          <a:p>
            <a:r>
              <a:rPr lang="en-US" dirty="0"/>
              <a:t>Recurrent Neural Networks (RNNs)</a:t>
            </a:r>
          </a:p>
        </p:txBody>
      </p:sp>
      <p:sp>
        <p:nvSpPr>
          <p:cNvPr id="3" name="Content Placeholder 2">
            <a:extLst>
              <a:ext uri="{FF2B5EF4-FFF2-40B4-BE49-F238E27FC236}">
                <a16:creationId xmlns:a16="http://schemas.microsoft.com/office/drawing/2014/main" id="{5914F552-61F9-B7FB-4D09-2CDCA34E5972}"/>
              </a:ext>
            </a:extLst>
          </p:cNvPr>
          <p:cNvSpPr>
            <a:spLocks noGrp="1"/>
          </p:cNvSpPr>
          <p:nvPr>
            <p:ph idx="1"/>
          </p:nvPr>
        </p:nvSpPr>
        <p:spPr/>
        <p:txBody>
          <a:bodyPr>
            <a:normAutofit/>
          </a:bodyPr>
          <a:lstStyle/>
          <a:p>
            <a:pPr marL="0" indent="0">
              <a:buNone/>
            </a:pPr>
            <a:endParaRPr lang="en-US" b="1" dirty="0"/>
          </a:p>
          <a:p>
            <a:r>
              <a:rPr lang="en-US" dirty="0"/>
              <a:t>RNNs are designed for sequential data like text or time-series. Their recurrent connections give them memory, allowing them to process information across steps. Variants like LSTM and GRU improve long-term learning and are used in language modeling, speech processing, and forecasting.</a:t>
            </a:r>
          </a:p>
          <a:p>
            <a:pPr marL="0" indent="0">
              <a:buNone/>
            </a:pPr>
            <a:endParaRPr lang="en-US" dirty="0"/>
          </a:p>
        </p:txBody>
      </p:sp>
    </p:spTree>
    <p:extLst>
      <p:ext uri="{BB962C8B-B14F-4D97-AF65-F5344CB8AC3E}">
        <p14:creationId xmlns:p14="http://schemas.microsoft.com/office/powerpoint/2010/main" val="2665498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E7B7-E68C-3E2F-B80F-2DC6529550D6}"/>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3DE4C028-5C1E-092F-286F-93656F439EC7}"/>
              </a:ext>
            </a:extLst>
          </p:cNvPr>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Transformers revolutionized sequence modeling by replacing recurrence with self-attention. They enable large-scale parallelization and are the architecture behind most modern language models (e.g., GPT, BERT). Transformers excel in NLP, multimodal tasks, and reasoning.</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1691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6F8D4-B3FB-8322-EFBA-76668712D86E}"/>
              </a:ext>
            </a:extLst>
          </p:cNvPr>
          <p:cNvSpPr>
            <a:spLocks noGrp="1"/>
          </p:cNvSpPr>
          <p:nvPr>
            <p:ph type="title"/>
          </p:nvPr>
        </p:nvSpPr>
        <p:spPr/>
        <p:txBody>
          <a:bodyPr/>
          <a:lstStyle/>
          <a:p>
            <a:r>
              <a:rPr lang="en-US" dirty="0"/>
              <a:t>Variational Autoencoders (VAEs)</a:t>
            </a:r>
          </a:p>
        </p:txBody>
      </p:sp>
      <p:sp>
        <p:nvSpPr>
          <p:cNvPr id="3" name="Content Placeholder 2">
            <a:extLst>
              <a:ext uri="{FF2B5EF4-FFF2-40B4-BE49-F238E27FC236}">
                <a16:creationId xmlns:a16="http://schemas.microsoft.com/office/drawing/2014/main" id="{6BC826EC-6329-E4FF-3A26-81BFF1A01A26}"/>
              </a:ext>
            </a:extLst>
          </p:cNvPr>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VAEs are generative models that learn compact latent representations of data. They encode inputs into a probability distribution and decode them back, allowing the creation of new, similar samples. They are used in image synthesis, anomaly detection, and latent-space exploration.</a:t>
            </a:r>
          </a:p>
        </p:txBody>
      </p:sp>
    </p:spTree>
    <p:extLst>
      <p:ext uri="{BB962C8B-B14F-4D97-AF65-F5344CB8AC3E}">
        <p14:creationId xmlns:p14="http://schemas.microsoft.com/office/powerpoint/2010/main" val="2536828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D0E5E-617C-9624-7687-BD65E5C901F2}"/>
              </a:ext>
            </a:extLst>
          </p:cNvPr>
          <p:cNvSpPr>
            <a:spLocks noGrp="1"/>
          </p:cNvSpPr>
          <p:nvPr>
            <p:ph type="title"/>
          </p:nvPr>
        </p:nvSpPr>
        <p:spPr/>
        <p:txBody>
          <a:bodyPr/>
          <a:lstStyle/>
          <a:p>
            <a:r>
              <a:rPr lang="en-US" dirty="0"/>
              <a:t>Generative Adversarial Networks (GANs)</a:t>
            </a:r>
          </a:p>
        </p:txBody>
      </p:sp>
      <p:sp>
        <p:nvSpPr>
          <p:cNvPr id="3" name="Content Placeholder 2">
            <a:extLst>
              <a:ext uri="{FF2B5EF4-FFF2-40B4-BE49-F238E27FC236}">
                <a16:creationId xmlns:a16="http://schemas.microsoft.com/office/drawing/2014/main" id="{93D011A0-79EB-3890-BB43-89F5C88DEBE6}"/>
              </a:ext>
            </a:extLst>
          </p:cNvPr>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GANs consist of a generator and a discriminator that compete during training. This adversarial process produces highly realistic synthetic images. GANs are used in art generation, style transfer, image enhancement, and synthetic data creation.</a:t>
            </a:r>
          </a:p>
        </p:txBody>
      </p:sp>
    </p:spTree>
    <p:extLst>
      <p:ext uri="{BB962C8B-B14F-4D97-AF65-F5344CB8AC3E}">
        <p14:creationId xmlns:p14="http://schemas.microsoft.com/office/powerpoint/2010/main" val="3837720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78C79-D4DD-56BD-4009-D8238B5CD13C}"/>
              </a:ext>
            </a:extLst>
          </p:cNvPr>
          <p:cNvSpPr>
            <a:spLocks noGrp="1"/>
          </p:cNvSpPr>
          <p:nvPr>
            <p:ph type="title"/>
          </p:nvPr>
        </p:nvSpPr>
        <p:spPr/>
        <p:txBody>
          <a:bodyPr/>
          <a:lstStyle/>
          <a:p>
            <a:r>
              <a:rPr lang="en-US" b="1" dirty="0"/>
              <a:t>Reinforcement Learning (RL)</a:t>
            </a:r>
            <a:br>
              <a:rPr lang="en-US" b="1" dirty="0"/>
            </a:br>
            <a:endParaRPr lang="en-US" dirty="0"/>
          </a:p>
        </p:txBody>
      </p:sp>
      <p:sp>
        <p:nvSpPr>
          <p:cNvPr id="3" name="Content Placeholder 2">
            <a:extLst>
              <a:ext uri="{FF2B5EF4-FFF2-40B4-BE49-F238E27FC236}">
                <a16:creationId xmlns:a16="http://schemas.microsoft.com/office/drawing/2014/main" id="{08AE5D27-F4B9-20C5-B8A0-20DE9938F3D1}"/>
              </a:ext>
            </a:extLst>
          </p:cNvPr>
          <p:cNvSpPr>
            <a:spLocks noGrp="1"/>
          </p:cNvSpPr>
          <p:nvPr>
            <p:ph idx="1"/>
          </p:nvPr>
        </p:nvSpPr>
        <p:spPr/>
        <p:txBody>
          <a:bodyPr/>
          <a:lstStyle/>
          <a:p>
            <a:endParaRPr lang="en-US" dirty="0"/>
          </a:p>
        </p:txBody>
      </p:sp>
      <p:sp>
        <p:nvSpPr>
          <p:cNvPr id="5" name="TextBox 4">
            <a:extLst>
              <a:ext uri="{FF2B5EF4-FFF2-40B4-BE49-F238E27FC236}">
                <a16:creationId xmlns:a16="http://schemas.microsoft.com/office/drawing/2014/main" id="{0E07223D-6855-2829-65FE-451FB2242AEC}"/>
              </a:ext>
            </a:extLst>
          </p:cNvPr>
          <p:cNvSpPr txBox="1"/>
          <p:nvPr/>
        </p:nvSpPr>
        <p:spPr>
          <a:xfrm>
            <a:off x="1508369" y="2557698"/>
            <a:ext cx="7641491" cy="1200329"/>
          </a:xfrm>
          <a:prstGeom prst="rect">
            <a:avLst/>
          </a:prstGeom>
          <a:noFill/>
        </p:spPr>
        <p:txBody>
          <a:bodyPr wrap="square">
            <a:spAutoFit/>
          </a:bodyPr>
          <a:lstStyle/>
          <a:p>
            <a:r>
              <a:rPr lang="en-US" dirty="0"/>
              <a:t>Reinforcement Learning models learn through trial and error using rewards. RL powers autonomous agents, robotics, games, and decision-making systems. It forms the foundation for modern AI agents and environment-interaction frameworks.</a:t>
            </a:r>
          </a:p>
        </p:txBody>
      </p:sp>
    </p:spTree>
    <p:extLst>
      <p:ext uri="{BB962C8B-B14F-4D97-AF65-F5344CB8AC3E}">
        <p14:creationId xmlns:p14="http://schemas.microsoft.com/office/powerpoint/2010/main" val="754146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87371-8794-D816-48C9-7DF0672E3460}"/>
              </a:ext>
            </a:extLst>
          </p:cNvPr>
          <p:cNvSpPr>
            <a:spLocks noGrp="1"/>
          </p:cNvSpPr>
          <p:nvPr>
            <p:ph type="title"/>
          </p:nvPr>
        </p:nvSpPr>
        <p:spPr/>
        <p:txBody>
          <a:bodyPr>
            <a:normAutofit/>
          </a:bodyPr>
          <a:lstStyle/>
          <a:p>
            <a:r>
              <a:rPr lang="en-US" sz="2000" dirty="0">
                <a:latin typeface="Times New Roman" panose="02020603050405020304" pitchFamily="18" charset="0"/>
                <a:cs typeface="Times New Roman" panose="02020603050405020304" pitchFamily="18" charset="0"/>
              </a:rPr>
              <a:t>Reasoning Models &amp; RAG (Retrieval-Augmented Generation)</a:t>
            </a:r>
          </a:p>
        </p:txBody>
      </p:sp>
      <p:sp>
        <p:nvSpPr>
          <p:cNvPr id="3" name="Content Placeholder 2">
            <a:extLst>
              <a:ext uri="{FF2B5EF4-FFF2-40B4-BE49-F238E27FC236}">
                <a16:creationId xmlns:a16="http://schemas.microsoft.com/office/drawing/2014/main" id="{7D1D82C3-166B-9FC0-C7FF-60458B8AF0DE}"/>
              </a:ext>
            </a:extLst>
          </p:cNvPr>
          <p:cNvSpPr>
            <a:spLocks noGrp="1"/>
          </p:cNvSpPr>
          <p:nvPr>
            <p:ph idx="1"/>
          </p:nvPr>
        </p:nvSpPr>
        <p:spPr/>
        <p:txBody>
          <a:bodyPr/>
          <a:lstStyle/>
          <a:p>
            <a:endParaRPr lang="en-US" dirty="0"/>
          </a:p>
          <a:p>
            <a:endParaRPr lang="en-US" dirty="0"/>
          </a:p>
          <a:p>
            <a:r>
              <a:rPr lang="en-US" dirty="0"/>
              <a:t>Reasoning models aim to answer complex questions and solve multi-step problems. RAG systems enhance LLMs by retrieving relevant external knowledge, improving accuracy and grounding. These methods form the basis of advanced AI agents and intelligent systems.</a:t>
            </a:r>
          </a:p>
          <a:p>
            <a:endParaRPr lang="en-US" dirty="0"/>
          </a:p>
        </p:txBody>
      </p:sp>
    </p:spTree>
    <p:extLst>
      <p:ext uri="{BB962C8B-B14F-4D97-AF65-F5344CB8AC3E}">
        <p14:creationId xmlns:p14="http://schemas.microsoft.com/office/powerpoint/2010/main" val="2774403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E46B0-1411-6A02-2219-1317537C14CA}"/>
              </a:ext>
            </a:extLst>
          </p:cNvPr>
          <p:cNvSpPr>
            <a:spLocks noGrp="1"/>
          </p:cNvSpPr>
          <p:nvPr>
            <p:ph type="title"/>
          </p:nvPr>
        </p:nvSpPr>
        <p:spPr/>
        <p:txBody>
          <a:bodyPr/>
          <a:lstStyle/>
          <a:p>
            <a:r>
              <a:rPr lang="en-US" dirty="0"/>
              <a:t>Final Summary</a:t>
            </a:r>
          </a:p>
        </p:txBody>
      </p:sp>
      <p:sp>
        <p:nvSpPr>
          <p:cNvPr id="3" name="Content Placeholder 2">
            <a:extLst>
              <a:ext uri="{FF2B5EF4-FFF2-40B4-BE49-F238E27FC236}">
                <a16:creationId xmlns:a16="http://schemas.microsoft.com/office/drawing/2014/main" id="{C439F898-2C40-D2BF-9BCB-0EB6FD6B9446}"/>
              </a:ext>
            </a:extLst>
          </p:cNvPr>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Together, these topics form the core of modern AI. They span foundational math, neural architectures, generative models, and intelligent agent systems. Understanding each of these concepts creates a strong foundation for building, analyzing, and deploying real-world artificial intelligence solutions.</a:t>
            </a:r>
          </a:p>
        </p:txBody>
      </p:sp>
    </p:spTree>
    <p:extLst>
      <p:ext uri="{BB962C8B-B14F-4D97-AF65-F5344CB8AC3E}">
        <p14:creationId xmlns:p14="http://schemas.microsoft.com/office/powerpoint/2010/main" val="247873189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28</TotalTime>
  <Words>933</Words>
  <Application>Microsoft Office PowerPoint</Application>
  <PresentationFormat>Widescreen</PresentationFormat>
  <Paragraphs>29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Rockwell</vt:lpstr>
      <vt:lpstr>Times New Roman</vt:lpstr>
      <vt:lpstr>Gallery</vt:lpstr>
      <vt:lpstr>PowerPoint Presentation</vt:lpstr>
      <vt:lpstr>Module Overview (ITAI 2276) </vt:lpstr>
      <vt:lpstr>Machine Learning Overview </vt:lpstr>
      <vt:lpstr>Neural Networks Overview </vt:lpstr>
      <vt:lpstr>Convolutional Neural Networks (CNNs)</vt:lpstr>
      <vt:lpstr>Recurrent Neural Networks (RNN</vt:lpstr>
      <vt:lpstr>Recurrent Neural Networks (RNNs)</vt:lpstr>
      <vt:lpstr>Transformers</vt:lpstr>
      <vt:lpstr>Variational Autoencoders (VAEs)</vt:lpstr>
      <vt:lpstr>Generative Adversarial Networks (GANs)</vt:lpstr>
      <vt:lpstr>Reinforcement Learning (RL) </vt:lpstr>
      <vt:lpstr>Reasoning Models &amp; RAG (Retrieval-Augmented Generation)</vt:lpstr>
      <vt:lpstr>Final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williane Yarro</dc:creator>
  <cp:lastModifiedBy>williane Yarro</cp:lastModifiedBy>
  <cp:revision>1</cp:revision>
  <dcterms:created xsi:type="dcterms:W3CDTF">2025-12-07T08:26:01Z</dcterms:created>
  <dcterms:modified xsi:type="dcterms:W3CDTF">2025-12-07T08:54:24Z</dcterms:modified>
</cp:coreProperties>
</file>